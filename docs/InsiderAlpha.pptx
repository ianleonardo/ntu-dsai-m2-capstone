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E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822960"/>
            <a:ext cx="3200400" cy="3200400"/>
          </a:xfrm>
          <a:prstGeom prst="ellipse">
            <a:avLst/>
          </a:prstGeom>
          <a:solidFill>
            <a:srgbClr val="1B2D5F">
              <a:alpha val="60000"/>
            </a:srgbClr>
          </a:solidFill>
          <a:ln w="12700">
            <a:solidFill>
              <a:srgbClr val="1B2D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274320"/>
            <a:ext cx="2011680" cy="2011680"/>
          </a:xfrm>
          <a:prstGeom prst="ellipse">
            <a:avLst/>
          </a:prstGeom>
          <a:solidFill>
            <a:srgbClr val="D4A843">
              <a:alpha val="30000"/>
            </a:srgbClr>
          </a:solidFill>
          <a:ln w="12700">
            <a:solidFill>
              <a:srgbClr val="D4A84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1920240"/>
            <a:ext cx="137160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1280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INVESTMENT ANALYTICS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11480" y="169164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Insider Alpha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411480" y="301752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SEC Form 4 Filings into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High-Conviction Investment Signals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11480" y="4389120"/>
            <a:ext cx="3200400" cy="36576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4526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Portfolio Managers &amp; Institutional Investors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D5F"/>
          </a:solidFill>
          <a:ln w="12700">
            <a:solidFill>
              <a:srgbClr val="1B2D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325880"/>
            <a:ext cx="2560320" cy="2286000"/>
          </a:xfrm>
          <a:prstGeom prst="rect">
            <a:avLst/>
          </a:prstGeom>
          <a:solidFill>
            <a:srgbClr val="1B2D5F"/>
          </a:solidFill>
          <a:ln w="12700">
            <a:solidFill>
              <a:srgbClr val="1B2D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5087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40,000+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11480" y="23317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4 filings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annually in the S&amp;P 500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325880"/>
            <a:ext cx="5486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325880"/>
            <a:ext cx="54864" cy="65836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362456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Asymmetry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161848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insiders legally must disclose trades — yet few investors systematically exploit this data.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91840" y="2103120"/>
            <a:ext cx="5486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2103120"/>
            <a:ext cx="54864" cy="65836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2139696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Analysis Impossible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0" y="239572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daily filings make it impractical to track, normalize, and extract signals by hand.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91840" y="2880360"/>
            <a:ext cx="54864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91840" y="2880360"/>
            <a:ext cx="54864" cy="65836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2916936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Alpha Opportunities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4720" y="317296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insider activity has proven to predict short-to-medium term price moves — a signal being left on the table.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11480" y="46634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C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S&amp;P 500 is the world's most efficient market — yet this information gap persists.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D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 Alpha consolidates and distills SEC Form 4 data for S&amp;P 500 companies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a unified, signal-ready analytics dashboard.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645920"/>
            <a:ext cx="2697480" cy="2971800"/>
          </a:xfrm>
          <a:prstGeom prst="rect">
            <a:avLst/>
          </a:prstGeom>
          <a:solidFill>
            <a:srgbClr val="111E42"/>
          </a:solidFill>
          <a:ln w="6350">
            <a:solidFill>
              <a:srgbClr val="C8D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1828800"/>
            <a:ext cx="777240" cy="77724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1328" y="1938528"/>
            <a:ext cx="557784" cy="5577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21208" y="2788920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Hierarchical Weighting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33375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Prioritizes C-suite trades (CEO, CFO) over lower-level employee transactions to surface the highest-conviction signals.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19272" y="1645920"/>
            <a:ext cx="2697480" cy="2971800"/>
          </a:xfrm>
          <a:prstGeom prst="rect">
            <a:avLst/>
          </a:prstGeom>
          <a:solidFill>
            <a:srgbClr val="111E42"/>
          </a:solidFill>
          <a:ln w="6350">
            <a:solidFill>
              <a:srgbClr val="C8D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79392" y="1828800"/>
            <a:ext cx="777240" cy="77724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938528"/>
            <a:ext cx="557784" cy="5577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29000" y="2788920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 Detection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456432" y="33375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'Isolated/Significant Purchases' — instances where multiple independent insiders buy simultaneously.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227064" y="1645920"/>
            <a:ext cx="2697480" cy="2971800"/>
          </a:xfrm>
          <a:prstGeom prst="rect">
            <a:avLst/>
          </a:prstGeom>
          <a:solidFill>
            <a:srgbClr val="111E42"/>
          </a:solidFill>
          <a:ln w="6350">
            <a:solidFill>
              <a:srgbClr val="C8D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187184" y="1828800"/>
            <a:ext cx="777240" cy="77724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2" y="1938528"/>
            <a:ext cx="557784" cy="5577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36792" y="2788920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Temporal Analytics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364224" y="33375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Time-stamps each signal to capture alpha within the critical 1–6 month post-filing window.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411480" y="473659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C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automatically excludes non-discretionary trades: stock grants, option exercises &amp; 10b5-1 pre-planned sales.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D5F"/>
          </a:solidFill>
          <a:ln w="12700">
            <a:solidFill>
              <a:srgbClr val="1B2D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Value: Quantifiable Alpha Generation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2743200" cy="2011680"/>
          </a:xfrm>
          <a:prstGeom prst="rect">
            <a:avLst/>
          </a:prstGeom>
          <a:solidFill>
            <a:srgbClr val="1B2D5F"/>
          </a:solidFill>
          <a:ln w="12700">
            <a:solidFill>
              <a:srgbClr val="1B2D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3716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5–10%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11480" y="22402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outperformance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6 months following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insider purchases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1188720"/>
            <a:ext cx="5303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188720"/>
            <a:ext cx="54864" cy="5943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93592" y="1298448"/>
            <a:ext cx="347472" cy="34747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041648" y="122529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Scoring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041648" y="147218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data into a composite score. PMs set strict risk thresholds — execute only when criteria are met.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429000" y="1883664"/>
            <a:ext cx="5303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429000" y="1883664"/>
            <a:ext cx="54864" cy="5943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92" y="1993392"/>
            <a:ext cx="347472" cy="34747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041648" y="1920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Mitigation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041648" y="21671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Isolates CEO sell signals as early warnings for downside risk — enabling hedging or exit before negative surprises.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3429000" y="2578608"/>
            <a:ext cx="5303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429000" y="2578608"/>
            <a:ext cx="54864" cy="5943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3592" y="2688336"/>
            <a:ext cx="347472" cy="34747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041648" y="2615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D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Uncorrelated Alpha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4041648" y="28620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uncorrelated with traditional factor models (value, momentum). A distinct and differentiated edge.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411480" y="47091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C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Research-backed: Academic studies confirm the predictive power of insider cluster purchases across market cycles.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D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Efficiency: Streamlining Operational Workflows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4023360" cy="3429000"/>
          </a:xfrm>
          <a:prstGeom prst="rect">
            <a:avLst/>
          </a:prstGeom>
          <a:solidFill>
            <a:srgbClr val="111E42"/>
          </a:solidFill>
          <a:ln w="6350">
            <a:solidFill>
              <a:srgbClr val="C8D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12648" y="1508760"/>
            <a:ext cx="658368" cy="658368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600200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6002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Noise Filtering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12648" y="2331720"/>
            <a:ext cx="36393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excludes non-discretionary trades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stock grants, tax-related sales &amp; option exercises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false positives — only opportunistic trades where insiders risk their own capital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grounded in academic research methodology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00600" y="1325880"/>
            <a:ext cx="4023360" cy="3429000"/>
          </a:xfrm>
          <a:prstGeom prst="rect">
            <a:avLst/>
          </a:prstGeom>
          <a:solidFill>
            <a:srgbClr val="111E42"/>
          </a:solidFill>
          <a:ln w="6350">
            <a:solidFill>
              <a:srgbClr val="C8D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01768" y="1508760"/>
            <a:ext cx="658368" cy="658368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208" y="1600200"/>
            <a:ext cx="475488" cy="4754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806440" y="16002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Unified Dashboard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001768" y="2331720"/>
            <a:ext cx="36393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archaic SEC EDGAR navigation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Normalized, sortable views across all S&amp;P 500 sectors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Buying/selling trend visualization at a glance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hours of manual research to seconds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11480" y="473659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C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 Alpha transforms a 40,000+ filing annual workload into a streamlined, decision-ready workflow.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D5F"/>
          </a:solidFill>
          <a:ln w="12700">
            <a:solidFill>
              <a:srgbClr val="1B2D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Alignment: Data-Driven Decision Making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40690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88720"/>
            <a:ext cx="54864" cy="1600200"/>
          </a:xfrm>
          <a:prstGeom prst="rect">
            <a:avLst/>
          </a:prstGeom>
          <a:solidFill>
            <a:srgbClr val="1B2D5F"/>
          </a:solidFill>
          <a:ln w="12700">
            <a:solidFill>
              <a:srgbClr val="1B2D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6072" y="1371600"/>
            <a:ext cx="594360" cy="594360"/>
          </a:xfrm>
          <a:prstGeom prst="ellipse">
            <a:avLst/>
          </a:prstGeom>
          <a:solidFill>
            <a:srgbClr val="1B2D5F"/>
          </a:solidFill>
          <a:ln w="12700">
            <a:solidFill>
              <a:srgbClr val="1B2D5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53896"/>
            <a:ext cx="429768" cy="4297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5880" y="13533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D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Thematic Analysis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325880" y="170992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which sectors (Tech, Healthcare, Financials) show the highest insider buying concentration — enabling top-down allocation with bottom-up conviction.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800600" y="1188720"/>
            <a:ext cx="40690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00600" y="1188720"/>
            <a:ext cx="54864" cy="1600200"/>
          </a:xfrm>
          <a:prstGeom prst="rect">
            <a:avLst/>
          </a:prstGeom>
          <a:solidFill>
            <a:srgbClr val="1B2D5F"/>
          </a:solidFill>
          <a:ln w="12700">
            <a:solidFill>
              <a:srgbClr val="1B2D5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965192" y="1371600"/>
            <a:ext cx="594360" cy="594360"/>
          </a:xfrm>
          <a:prstGeom prst="ellipse">
            <a:avLst/>
          </a:prstGeom>
          <a:solidFill>
            <a:srgbClr val="1B2D5F"/>
          </a:solidFill>
          <a:ln w="12700">
            <a:solidFill>
              <a:srgbClr val="1B2D5F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1453896"/>
            <a:ext cx="429768" cy="42976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715000" y="13533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D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Ready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715000" y="170992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on public, auditable SEC filings. Clear audit trail for compliance departments on the origin of every trade idea.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11480" y="3017520"/>
            <a:ext cx="40690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11480" y="3017520"/>
            <a:ext cx="54864" cy="1600200"/>
          </a:xfrm>
          <a:prstGeom prst="rect">
            <a:avLst/>
          </a:prstGeom>
          <a:solidFill>
            <a:srgbClr val="1B2D5F"/>
          </a:solidFill>
          <a:ln w="12700">
            <a:solidFill>
              <a:srgbClr val="1B2D5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76072" y="3200400"/>
            <a:ext cx="594360" cy="594360"/>
          </a:xfrm>
          <a:prstGeom prst="ellipse">
            <a:avLst/>
          </a:prstGeom>
          <a:solidFill>
            <a:srgbClr val="1B2D5F"/>
          </a:solidFill>
          <a:ln w="12700">
            <a:solidFill>
              <a:srgbClr val="1B2D5F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282696"/>
            <a:ext cx="429768" cy="42976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325880" y="31821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D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Proprietary Data Moat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1325880" y="353872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legal insider filings into a systematic process. A source of return not universally available to passive market participants.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4800600" y="3017520"/>
            <a:ext cx="40690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800600" y="3017520"/>
            <a:ext cx="54864" cy="1600200"/>
          </a:xfrm>
          <a:prstGeom prst="rect">
            <a:avLst/>
          </a:prstGeom>
          <a:solidFill>
            <a:srgbClr val="1B2D5F"/>
          </a:solidFill>
          <a:ln w="12700">
            <a:solidFill>
              <a:srgbClr val="1B2D5F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965192" y="3200400"/>
            <a:ext cx="594360" cy="594360"/>
          </a:xfrm>
          <a:prstGeom prst="ellipse">
            <a:avLst/>
          </a:prstGeom>
          <a:solidFill>
            <a:srgbClr val="1B2D5F"/>
          </a:solidFill>
          <a:ln w="12700">
            <a:solidFill>
              <a:srgbClr val="1B2D5F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3282696"/>
            <a:ext cx="429768" cy="42976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715000" y="31821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D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Benchmark Outperformance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5715000" y="353872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Operationalizing insider data enables asset managers to capture alpha uncorrelated with traditional factor-based strategies.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E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371600"/>
            <a:ext cx="5486400" cy="5486400"/>
          </a:xfrm>
          <a:prstGeom prst="ellipse">
            <a:avLst/>
          </a:prstGeom>
          <a:solidFill>
            <a:srgbClr val="1B2D5F">
              <a:alpha val="60000"/>
            </a:srgbClr>
          </a:solidFill>
          <a:ln w="12700">
            <a:solidFill>
              <a:srgbClr val="1B2D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37160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457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11480" y="914400"/>
            <a:ext cx="6583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Edge in the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S&amp;P 500 Landscape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411480" y="26060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 Alpha</a:t>
            </a:r>
            <a:pPr indent="0" marL="0">
              <a:buNone/>
            </a:pPr>
            <a:r>
              <a:rPr lang="en-US" sz="13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bridges the gap between public regulatory data and proprietary investment insight — applying a proven methodology to the 'smart money' trades of C-suite executives.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11480" y="3611880"/>
            <a:ext cx="2514600" cy="1097280"/>
          </a:xfrm>
          <a:prstGeom prst="rect">
            <a:avLst/>
          </a:prstGeom>
          <a:solidFill>
            <a:srgbClr val="1B2D5F"/>
          </a:solidFill>
          <a:ln w="12700">
            <a:solidFill>
              <a:srgbClr val="D4A84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11480" y="37033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1–6 mo.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411480" y="422452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capture window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46120" y="3611880"/>
            <a:ext cx="2514600" cy="1097280"/>
          </a:xfrm>
          <a:prstGeom prst="rect">
            <a:avLst/>
          </a:prstGeom>
          <a:solidFill>
            <a:srgbClr val="1B2D5F"/>
          </a:solidFill>
          <a:ln w="12700">
            <a:solidFill>
              <a:srgbClr val="D4A84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246120" y="37033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5–10%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3246120" y="422452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outperformance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080760" y="3611880"/>
            <a:ext cx="2514600" cy="1097280"/>
          </a:xfrm>
          <a:prstGeom prst="rect">
            <a:avLst/>
          </a:prstGeom>
          <a:solidFill>
            <a:srgbClr val="1B2D5F"/>
          </a:solidFill>
          <a:ln w="12700">
            <a:solidFill>
              <a:srgbClr val="D4A84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080760" y="37033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40,000+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6080760" y="422452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filings processed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11480" y="480060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spc="200" kern="0" dirty="0">
                <a:solidFill>
                  <a:srgbClr val="8C9D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High-conviction · Actionable · Compliant · Data-driven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Insider Alpha</dc:title>
  <dc:subject>PptxGenJS Presentation</dc:subject>
  <dc:creator>Insider Alpha Analytics</dc:creator>
  <cp:lastModifiedBy>Insider Alpha Analytics</cp:lastModifiedBy>
  <cp:revision>1</cp:revision>
  <dcterms:created xsi:type="dcterms:W3CDTF">2026-03-24T16:26:59Z</dcterms:created>
  <dcterms:modified xsi:type="dcterms:W3CDTF">2026-03-24T16:26:59Z</dcterms:modified>
</cp:coreProperties>
</file>